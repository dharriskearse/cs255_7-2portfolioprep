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58" r:id="rId2"/>
    <p:sldId id="260" r:id="rId3"/>
    <p:sldId id="261" r:id="rId4"/>
    <p:sldId id="267" r:id="rId5"/>
    <p:sldId id="263" r:id="rId6"/>
    <p:sldId id="265" r:id="rId7"/>
  </p:sldIdLst>
  <p:sldSz cx="12192000" cy="6858000"/>
  <p:notesSz cx="6858000" cy="9144000"/>
  <p:custDataLst>
    <p:tags r:id="rId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66" autoAdjust="0"/>
    <p:restoredTop sz="65796" autoAdjust="0"/>
  </p:normalViewPr>
  <p:slideViewPr>
    <p:cSldViewPr snapToGrid="0">
      <p:cViewPr varScale="1">
        <p:scale>
          <a:sx n="72" d="100"/>
          <a:sy n="72" d="100"/>
        </p:scale>
        <p:origin x="1086"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tags" Target="tags/tag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5C20BB3-3CCB-4FE5-991B-82F6BCB48AF3}" type="datetimeFigureOut">
              <a:rPr lang="en-US" smtClean="0"/>
              <a:t>4/20/2026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0746DE6-3336-457D-A091-FA20AC1C536E}" type="slidenum">
              <a:rPr lang="en-US" smtClean="0"/>
              <a:t>‹#›</a:t>
            </a:fld>
            <a:endParaRPr lang="en-US"/>
          </a:p>
        </p:txBody>
      </p:sp>
    </p:spTree>
    <p:extLst>
      <p:ext uri="{BB962C8B-B14F-4D97-AF65-F5344CB8AC3E}">
        <p14:creationId xmlns:p14="http://schemas.microsoft.com/office/powerpoint/2010/main" val="8562944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a:t>
            </a:r>
            <a:r>
              <a:rPr lang="en-US" baseline="0" dirty="0"/>
              <a:t> speaker notes required for this slide.]</a:t>
            </a:r>
            <a:endParaRPr lang="en-US" dirty="0"/>
          </a:p>
        </p:txBody>
      </p:sp>
      <p:sp>
        <p:nvSpPr>
          <p:cNvPr id="4" name="Slide Number Placeholder 3"/>
          <p:cNvSpPr>
            <a:spLocks noGrp="1"/>
          </p:cNvSpPr>
          <p:nvPr>
            <p:ph type="sldNum" sz="quarter" idx="10"/>
          </p:nvPr>
        </p:nvSpPr>
        <p:spPr/>
        <p:txBody>
          <a:bodyPr/>
          <a:lstStyle/>
          <a:p>
            <a:fld id="{E0746DE6-3336-457D-A091-FA20AC1C536E}" type="slidenum">
              <a:rPr lang="en-US" smtClean="0"/>
              <a:t>1</a:t>
            </a:fld>
            <a:endParaRPr lang="en-US"/>
          </a:p>
        </p:txBody>
      </p:sp>
    </p:spTree>
    <p:extLst>
      <p:ext uri="{BB962C8B-B14F-4D97-AF65-F5344CB8AC3E}">
        <p14:creationId xmlns:p14="http://schemas.microsoft.com/office/powerpoint/2010/main" val="42162425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system was designed to meet </a:t>
            </a:r>
            <a:r>
              <a:rPr lang="en-US" dirty="0" err="1"/>
              <a:t>DriverPass’s</a:t>
            </a:r>
            <a:r>
              <a:rPr lang="en-US" dirty="0"/>
              <a:t> main business needs. First, customers must be able to schedule driving lessons easily, whether online or through the office. This helps improve convenience and reduces manual scheduling work.</a:t>
            </a:r>
          </a:p>
          <a:p>
            <a:r>
              <a:rPr lang="en-US" dirty="0"/>
              <a:t>Second, the system allows users to take practice tests and track their progress. This supports </a:t>
            </a:r>
            <a:r>
              <a:rPr lang="en-US" dirty="0" err="1"/>
              <a:t>DriverPass’s</a:t>
            </a:r>
            <a:r>
              <a:rPr lang="en-US" dirty="0"/>
              <a:t> goal of helping customers pass their driving exams.</a:t>
            </a:r>
          </a:p>
          <a:p>
            <a:r>
              <a:rPr lang="en-US" dirty="0"/>
              <a:t>On the system side, it must be accessible from anywhere using a phone or computer, since the client wanted a cloud-based solution. Security is also very important because the system stores personal and payment information, so it must keep that data safe.</a:t>
            </a:r>
          </a:p>
        </p:txBody>
      </p:sp>
      <p:sp>
        <p:nvSpPr>
          <p:cNvPr id="4" name="Slide Number Placeholder 3"/>
          <p:cNvSpPr>
            <a:spLocks noGrp="1"/>
          </p:cNvSpPr>
          <p:nvPr>
            <p:ph type="sldNum" sz="quarter" idx="10"/>
          </p:nvPr>
        </p:nvSpPr>
        <p:spPr/>
        <p:txBody>
          <a:bodyPr/>
          <a:lstStyle/>
          <a:p>
            <a:fld id="{E0746DE6-3336-457D-A091-FA20AC1C536E}" type="slidenum">
              <a:rPr lang="en-US" smtClean="0"/>
              <a:t>2</a:t>
            </a:fld>
            <a:endParaRPr lang="en-US"/>
          </a:p>
        </p:txBody>
      </p:sp>
    </p:spTree>
    <p:extLst>
      <p:ext uri="{BB962C8B-B14F-4D97-AF65-F5344CB8AC3E}">
        <p14:creationId xmlns:p14="http://schemas.microsoft.com/office/powerpoint/2010/main" val="3399264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diagram shows how different people interact with the system. For example, customers can create accounts, schedule lessons, and take practice tests. Staff members can manage reservations and help customers when needed.</a:t>
            </a:r>
          </a:p>
          <a:p>
            <a:r>
              <a:rPr lang="en-US" dirty="0"/>
              <a:t>The system also includes administrative functions, such as managing accounts and viewing reports. This allows the business owner to track performance and activity.</a:t>
            </a:r>
          </a:p>
          <a:p>
            <a:r>
              <a:rPr lang="en-US" dirty="0"/>
              <a:t>Overall, this design ensures that every user has access to the tools they need while keeping responsibilities clearly separated.</a:t>
            </a:r>
          </a:p>
        </p:txBody>
      </p:sp>
      <p:sp>
        <p:nvSpPr>
          <p:cNvPr id="4" name="Slide Number Placeholder 3"/>
          <p:cNvSpPr>
            <a:spLocks noGrp="1"/>
          </p:cNvSpPr>
          <p:nvPr>
            <p:ph type="sldNum" sz="quarter" idx="10"/>
          </p:nvPr>
        </p:nvSpPr>
        <p:spPr/>
        <p:txBody>
          <a:bodyPr/>
          <a:lstStyle/>
          <a:p>
            <a:fld id="{E0746DE6-3336-457D-A091-FA20AC1C536E}" type="slidenum">
              <a:rPr lang="en-US" smtClean="0"/>
              <a:t>3</a:t>
            </a:fld>
            <a:endParaRPr lang="en-US"/>
          </a:p>
        </p:txBody>
      </p:sp>
    </p:spTree>
    <p:extLst>
      <p:ext uri="{BB962C8B-B14F-4D97-AF65-F5344CB8AC3E}">
        <p14:creationId xmlns:p14="http://schemas.microsoft.com/office/powerpoint/2010/main" val="22628351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diagram breaks down the steps a customer takes to schedule a driving lesson. It starts with logging into the system and selecting a package. Then the system shows available times, and the customer chooses what works best.</a:t>
            </a:r>
          </a:p>
          <a:p>
            <a:r>
              <a:rPr lang="en-US" dirty="0"/>
              <a:t>Behind the scenes, the system checks if a driver and vehicle are available. If everything is available, the lesson is scheduled and confirmed. If not, the customer is asked to choose another time.</a:t>
            </a:r>
          </a:p>
          <a:p>
            <a:r>
              <a:rPr lang="en-US" dirty="0"/>
              <a:t>This design ensures that scheduling is efficient and avoids conflicts, which helps the business run smoothly.</a:t>
            </a:r>
          </a:p>
        </p:txBody>
      </p:sp>
      <p:sp>
        <p:nvSpPr>
          <p:cNvPr id="4" name="Slide Number Placeholder 3"/>
          <p:cNvSpPr>
            <a:spLocks noGrp="1"/>
          </p:cNvSpPr>
          <p:nvPr>
            <p:ph type="sldNum" sz="quarter" idx="10"/>
          </p:nvPr>
        </p:nvSpPr>
        <p:spPr/>
        <p:txBody>
          <a:bodyPr/>
          <a:lstStyle/>
          <a:p>
            <a:fld id="{E0746DE6-3336-457D-A091-FA20AC1C536E}" type="slidenum">
              <a:rPr lang="en-US" smtClean="0"/>
              <a:t>4</a:t>
            </a:fld>
            <a:endParaRPr lang="en-US"/>
          </a:p>
        </p:txBody>
      </p:sp>
    </p:spTree>
    <p:extLst>
      <p:ext uri="{BB962C8B-B14F-4D97-AF65-F5344CB8AC3E}">
        <p14:creationId xmlns:p14="http://schemas.microsoft.com/office/powerpoint/2010/main" val="8961842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was a major focus in this design. Every user must log in with a username and password to access the system.</a:t>
            </a:r>
          </a:p>
          <a:p>
            <a:r>
              <a:rPr lang="en-US" dirty="0"/>
              <a:t>Different users have different levels of access. For example, administrators can manage accounts, while customers can only manage their own information.</a:t>
            </a:r>
          </a:p>
          <a:p>
            <a:r>
              <a:rPr lang="en-US" dirty="0"/>
              <a:t>The system also keeps a record of actions, such as scheduling or canceling lessons. This helps track who made changes if issues arise.</a:t>
            </a:r>
          </a:p>
          <a:p>
            <a:r>
              <a:rPr lang="en-US" dirty="0"/>
              <a:t>Finally, personal and payment information is protected to ensure customer trust and safety.</a:t>
            </a:r>
          </a:p>
        </p:txBody>
      </p:sp>
      <p:sp>
        <p:nvSpPr>
          <p:cNvPr id="4" name="Slide Number Placeholder 3"/>
          <p:cNvSpPr>
            <a:spLocks noGrp="1"/>
          </p:cNvSpPr>
          <p:nvPr>
            <p:ph type="sldNum" sz="quarter" idx="10"/>
          </p:nvPr>
        </p:nvSpPr>
        <p:spPr/>
        <p:txBody>
          <a:bodyPr/>
          <a:lstStyle/>
          <a:p>
            <a:fld id="{E0746DE6-3336-457D-A091-FA20AC1C536E}" type="slidenum">
              <a:rPr lang="en-US" smtClean="0"/>
              <a:t>5</a:t>
            </a:fld>
            <a:endParaRPr lang="en-US"/>
          </a:p>
        </p:txBody>
      </p:sp>
    </p:spTree>
    <p:extLst>
      <p:ext uri="{BB962C8B-B14F-4D97-AF65-F5344CB8AC3E}">
        <p14:creationId xmlns:p14="http://schemas.microsoft.com/office/powerpoint/2010/main" val="34916115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Like any system, there are some limitations. First, the system depends on an internet connection for full functionality, especially when updating or saving data.</a:t>
            </a:r>
          </a:p>
          <a:p>
            <a:r>
              <a:rPr lang="en-US" dirty="0"/>
              <a:t>Second, while packages can be enabled or disabled, creating new ones requires technical support. This was kept simple for the initial version.</a:t>
            </a:r>
          </a:p>
          <a:p>
            <a:r>
              <a:rPr lang="en-US" dirty="0"/>
              <a:t>Additionally, updates to the system will require someone with technical knowledge. Lastly, the system relies on updates from the DMV, which are outside of the company’s control.</a:t>
            </a:r>
          </a:p>
          <a:p>
            <a:r>
              <a:rPr lang="en-US" dirty="0"/>
              <a:t>Even with these limitations, the system still meets the client’s main goals and provides a strong foundation for future improvements.</a:t>
            </a:r>
          </a:p>
        </p:txBody>
      </p:sp>
      <p:sp>
        <p:nvSpPr>
          <p:cNvPr id="4" name="Slide Number Placeholder 3"/>
          <p:cNvSpPr>
            <a:spLocks noGrp="1"/>
          </p:cNvSpPr>
          <p:nvPr>
            <p:ph type="sldNum" sz="quarter" idx="10"/>
          </p:nvPr>
        </p:nvSpPr>
        <p:spPr/>
        <p:txBody>
          <a:bodyPr/>
          <a:lstStyle/>
          <a:p>
            <a:fld id="{E0746DE6-3336-457D-A091-FA20AC1C536E}" type="slidenum">
              <a:rPr lang="en-US" smtClean="0"/>
              <a:t>6</a:t>
            </a:fld>
            <a:endParaRPr lang="en-US"/>
          </a:p>
        </p:txBody>
      </p:sp>
    </p:spTree>
    <p:extLst>
      <p:ext uri="{BB962C8B-B14F-4D97-AF65-F5344CB8AC3E}">
        <p14:creationId xmlns:p14="http://schemas.microsoft.com/office/powerpoint/2010/main" val="9706606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0391AB-F383-4237-A071-AD1C6E9246D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F6636DA-4FDE-4B32-8CCE-37EFA3E7579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0F87932-8FF0-4DF1-A776-9A3CE37618A7}"/>
              </a:ext>
            </a:extLst>
          </p:cNvPr>
          <p:cNvSpPr>
            <a:spLocks noGrp="1"/>
          </p:cNvSpPr>
          <p:nvPr>
            <p:ph type="dt" sz="half" idx="10"/>
          </p:nvPr>
        </p:nvSpPr>
        <p:spPr/>
        <p:txBody>
          <a:bodyPr/>
          <a:lstStyle/>
          <a:p>
            <a:fld id="{5D6495F3-B757-4FAF-98AA-EDA7D1485485}" type="datetimeFigureOut">
              <a:rPr lang="en-US" smtClean="0"/>
              <a:t>4/20/2026</a:t>
            </a:fld>
            <a:endParaRPr lang="en-US"/>
          </a:p>
        </p:txBody>
      </p:sp>
      <p:sp>
        <p:nvSpPr>
          <p:cNvPr id="5" name="Footer Placeholder 4">
            <a:extLst>
              <a:ext uri="{FF2B5EF4-FFF2-40B4-BE49-F238E27FC236}">
                <a16:creationId xmlns:a16="http://schemas.microsoft.com/office/drawing/2014/main" id="{5F38FAB8-C9F1-4DBB-B355-D8DEE37065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4490E3-D8E8-4766-9104-14009BF5636F}"/>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4569019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CBC967-18DB-4664-9B4D-06177FB946B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ADF7174-64B4-4D8F-BF44-3DD1F66CAD0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5CD83D3-86C4-482F-A2DC-B4C55DBF3F7A}"/>
              </a:ext>
            </a:extLst>
          </p:cNvPr>
          <p:cNvSpPr>
            <a:spLocks noGrp="1"/>
          </p:cNvSpPr>
          <p:nvPr>
            <p:ph type="dt" sz="half" idx="10"/>
          </p:nvPr>
        </p:nvSpPr>
        <p:spPr/>
        <p:txBody>
          <a:bodyPr/>
          <a:lstStyle/>
          <a:p>
            <a:fld id="{5D6495F3-B757-4FAF-98AA-EDA7D1485485}" type="datetimeFigureOut">
              <a:rPr lang="en-US" smtClean="0"/>
              <a:t>4/20/2026</a:t>
            </a:fld>
            <a:endParaRPr lang="en-US"/>
          </a:p>
        </p:txBody>
      </p:sp>
      <p:sp>
        <p:nvSpPr>
          <p:cNvPr id="5" name="Footer Placeholder 4">
            <a:extLst>
              <a:ext uri="{FF2B5EF4-FFF2-40B4-BE49-F238E27FC236}">
                <a16:creationId xmlns:a16="http://schemas.microsoft.com/office/drawing/2014/main" id="{DCF05BE2-6C23-4CB4-A63E-457E635BF2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097965-24FE-4C07-BE16-69AE439950EF}"/>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2757682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33394D-04EF-440C-B08B-114464B315C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BEBE3F6-F021-4D6B-8B0D-EF74D7461F9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196233C-6806-4593-91C0-CF4ECD84A601}"/>
              </a:ext>
            </a:extLst>
          </p:cNvPr>
          <p:cNvSpPr>
            <a:spLocks noGrp="1"/>
          </p:cNvSpPr>
          <p:nvPr>
            <p:ph type="dt" sz="half" idx="10"/>
          </p:nvPr>
        </p:nvSpPr>
        <p:spPr/>
        <p:txBody>
          <a:bodyPr/>
          <a:lstStyle/>
          <a:p>
            <a:fld id="{5D6495F3-B757-4FAF-98AA-EDA7D1485485}" type="datetimeFigureOut">
              <a:rPr lang="en-US" smtClean="0"/>
              <a:t>4/20/2026</a:t>
            </a:fld>
            <a:endParaRPr lang="en-US"/>
          </a:p>
        </p:txBody>
      </p:sp>
      <p:sp>
        <p:nvSpPr>
          <p:cNvPr id="5" name="Footer Placeholder 4">
            <a:extLst>
              <a:ext uri="{FF2B5EF4-FFF2-40B4-BE49-F238E27FC236}">
                <a16:creationId xmlns:a16="http://schemas.microsoft.com/office/drawing/2014/main" id="{963A761E-2D3A-4397-A82C-2F3B981DE0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297E71-B59F-4260-B01B-2B7CEB0896B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6393263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94DFCB-DD40-4637-9CAB-2BAF24231C7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394065F-4B44-4622-98EE-166F936489F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7AF1249-B890-4466-9E24-84A24907008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50FA9B4-D282-452F-B78A-FF5873ACF45A}"/>
              </a:ext>
            </a:extLst>
          </p:cNvPr>
          <p:cNvSpPr>
            <a:spLocks noGrp="1"/>
          </p:cNvSpPr>
          <p:nvPr>
            <p:ph type="dt" sz="half" idx="10"/>
          </p:nvPr>
        </p:nvSpPr>
        <p:spPr/>
        <p:txBody>
          <a:bodyPr/>
          <a:lstStyle/>
          <a:p>
            <a:fld id="{5D6495F3-B757-4FAF-98AA-EDA7D1485485}" type="datetimeFigureOut">
              <a:rPr lang="en-US" smtClean="0"/>
              <a:t>4/20/2026</a:t>
            </a:fld>
            <a:endParaRPr lang="en-US"/>
          </a:p>
        </p:txBody>
      </p:sp>
      <p:sp>
        <p:nvSpPr>
          <p:cNvPr id="6" name="Footer Placeholder 5">
            <a:extLst>
              <a:ext uri="{FF2B5EF4-FFF2-40B4-BE49-F238E27FC236}">
                <a16:creationId xmlns:a16="http://schemas.microsoft.com/office/drawing/2014/main" id="{6E9B0F13-A139-4B66-9544-16480800F68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8791D0-EC30-4D8C-8764-475D8DB34F19}"/>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0815023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33AA7D-15D2-4D5F-B1C4-501073416DE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5E80A0E-25B9-4E8E-8B0D-201E1C56409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189B111-0CA0-47CD-9F0B-DBCBA3AE3C2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EF0E02D-3176-4B85-ACB6-721F2682742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C7D9317-BBE1-4F36-82FE-E348F6F18A9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837DDCB-69F8-49FA-A111-C8AB271389E7}"/>
              </a:ext>
            </a:extLst>
          </p:cNvPr>
          <p:cNvSpPr>
            <a:spLocks noGrp="1"/>
          </p:cNvSpPr>
          <p:nvPr>
            <p:ph type="dt" sz="half" idx="10"/>
          </p:nvPr>
        </p:nvSpPr>
        <p:spPr/>
        <p:txBody>
          <a:bodyPr/>
          <a:lstStyle/>
          <a:p>
            <a:fld id="{5D6495F3-B757-4FAF-98AA-EDA7D1485485}" type="datetimeFigureOut">
              <a:rPr lang="en-US" smtClean="0"/>
              <a:t>4/20/2026</a:t>
            </a:fld>
            <a:endParaRPr lang="en-US"/>
          </a:p>
        </p:txBody>
      </p:sp>
      <p:sp>
        <p:nvSpPr>
          <p:cNvPr id="8" name="Footer Placeholder 7">
            <a:extLst>
              <a:ext uri="{FF2B5EF4-FFF2-40B4-BE49-F238E27FC236}">
                <a16:creationId xmlns:a16="http://schemas.microsoft.com/office/drawing/2014/main" id="{4A18B0CD-1F68-412E-9232-F267114CA75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29B21FC-12CC-472D-BC38-EF413158CC5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8941432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0F51AB-8384-4E67-914C-B39484AD233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0909660-3861-4545-BF68-9ED039B5D0F0}"/>
              </a:ext>
            </a:extLst>
          </p:cNvPr>
          <p:cNvSpPr>
            <a:spLocks noGrp="1"/>
          </p:cNvSpPr>
          <p:nvPr>
            <p:ph type="dt" sz="half" idx="10"/>
          </p:nvPr>
        </p:nvSpPr>
        <p:spPr/>
        <p:txBody>
          <a:bodyPr/>
          <a:lstStyle/>
          <a:p>
            <a:fld id="{5D6495F3-B757-4FAF-98AA-EDA7D1485485}" type="datetimeFigureOut">
              <a:rPr lang="en-US" smtClean="0"/>
              <a:t>4/20/2026</a:t>
            </a:fld>
            <a:endParaRPr lang="en-US"/>
          </a:p>
        </p:txBody>
      </p:sp>
      <p:sp>
        <p:nvSpPr>
          <p:cNvPr id="4" name="Footer Placeholder 3">
            <a:extLst>
              <a:ext uri="{FF2B5EF4-FFF2-40B4-BE49-F238E27FC236}">
                <a16:creationId xmlns:a16="http://schemas.microsoft.com/office/drawing/2014/main" id="{FDDD5392-AC3A-4EAF-ADE6-B6CF4B50ACA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5679880-BF48-4F4D-B8B3-4E99FC415FF9}"/>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3514890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7F98E25-CF37-4F73-9E22-210238167867}"/>
              </a:ext>
            </a:extLst>
          </p:cNvPr>
          <p:cNvSpPr>
            <a:spLocks noGrp="1"/>
          </p:cNvSpPr>
          <p:nvPr>
            <p:ph type="dt" sz="half" idx="10"/>
          </p:nvPr>
        </p:nvSpPr>
        <p:spPr/>
        <p:txBody>
          <a:bodyPr/>
          <a:lstStyle/>
          <a:p>
            <a:fld id="{5D6495F3-B757-4FAF-98AA-EDA7D1485485}" type="datetimeFigureOut">
              <a:rPr lang="en-US" smtClean="0"/>
              <a:t>4/20/2026</a:t>
            </a:fld>
            <a:endParaRPr lang="en-US"/>
          </a:p>
        </p:txBody>
      </p:sp>
      <p:sp>
        <p:nvSpPr>
          <p:cNvPr id="3" name="Footer Placeholder 2">
            <a:extLst>
              <a:ext uri="{FF2B5EF4-FFF2-40B4-BE49-F238E27FC236}">
                <a16:creationId xmlns:a16="http://schemas.microsoft.com/office/drawing/2014/main" id="{89D7A0E1-38AB-4FDA-8EC1-2D7617909C1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8A8E424-5A91-4557-9ADF-4A9422A0690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4978027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6BB935-0427-44CC-A384-333EAD83175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CB9DCF6-55CF-43EE-B135-BFC4B4D403C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337538E-A112-4E8F-A445-1A06B0C3530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30D413-9505-4ED8-BFF1-5141BE9EE3C4}"/>
              </a:ext>
            </a:extLst>
          </p:cNvPr>
          <p:cNvSpPr>
            <a:spLocks noGrp="1"/>
          </p:cNvSpPr>
          <p:nvPr>
            <p:ph type="dt" sz="half" idx="10"/>
          </p:nvPr>
        </p:nvSpPr>
        <p:spPr/>
        <p:txBody>
          <a:bodyPr/>
          <a:lstStyle/>
          <a:p>
            <a:fld id="{5D6495F3-B757-4FAF-98AA-EDA7D1485485}" type="datetimeFigureOut">
              <a:rPr lang="en-US" smtClean="0"/>
              <a:t>4/20/2026</a:t>
            </a:fld>
            <a:endParaRPr lang="en-US"/>
          </a:p>
        </p:txBody>
      </p:sp>
      <p:sp>
        <p:nvSpPr>
          <p:cNvPr id="6" name="Footer Placeholder 5">
            <a:extLst>
              <a:ext uri="{FF2B5EF4-FFF2-40B4-BE49-F238E27FC236}">
                <a16:creationId xmlns:a16="http://schemas.microsoft.com/office/drawing/2014/main" id="{F60815B0-4528-4FA2-8472-8F19C0F1650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5C9FCEF-4406-4552-BFE4-6DA3761357F2}"/>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7540635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CE22C-69D4-49EC-8858-787B3C67B0D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46A4341-3C0B-4025-AE17-8F0F8FABF5D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DEF5FF01-E0B6-419C-ABCC-70844E4EAC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501218-FFD7-4F25-B220-F5DE5F70693C}"/>
              </a:ext>
            </a:extLst>
          </p:cNvPr>
          <p:cNvSpPr>
            <a:spLocks noGrp="1"/>
          </p:cNvSpPr>
          <p:nvPr>
            <p:ph type="dt" sz="half" idx="10"/>
          </p:nvPr>
        </p:nvSpPr>
        <p:spPr/>
        <p:txBody>
          <a:bodyPr/>
          <a:lstStyle/>
          <a:p>
            <a:fld id="{5D6495F3-B757-4FAF-98AA-EDA7D1485485}" type="datetimeFigureOut">
              <a:rPr lang="en-US" smtClean="0"/>
              <a:t>4/20/2026</a:t>
            </a:fld>
            <a:endParaRPr lang="en-US"/>
          </a:p>
        </p:txBody>
      </p:sp>
      <p:sp>
        <p:nvSpPr>
          <p:cNvPr id="6" name="Footer Placeholder 5">
            <a:extLst>
              <a:ext uri="{FF2B5EF4-FFF2-40B4-BE49-F238E27FC236}">
                <a16:creationId xmlns:a16="http://schemas.microsoft.com/office/drawing/2014/main" id="{9687CBFB-34A6-49D8-A1D2-45DF38876EE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C2726A4-D33A-486A-B120-648AF3D8BA76}"/>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26447433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3B8678-553E-4A5B-8CFE-5DB358BDF35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43AF303-1F73-4575-83E6-561589F1632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36EC56-7DCF-400D-A871-C26291EB10AD}"/>
              </a:ext>
            </a:extLst>
          </p:cNvPr>
          <p:cNvSpPr>
            <a:spLocks noGrp="1"/>
          </p:cNvSpPr>
          <p:nvPr>
            <p:ph type="dt" sz="half" idx="10"/>
          </p:nvPr>
        </p:nvSpPr>
        <p:spPr/>
        <p:txBody>
          <a:bodyPr/>
          <a:lstStyle/>
          <a:p>
            <a:fld id="{5D6495F3-B757-4FAF-98AA-EDA7D1485485}" type="datetimeFigureOut">
              <a:rPr lang="en-US" smtClean="0"/>
              <a:t>4/20/2026</a:t>
            </a:fld>
            <a:endParaRPr lang="en-US"/>
          </a:p>
        </p:txBody>
      </p:sp>
      <p:sp>
        <p:nvSpPr>
          <p:cNvPr id="5" name="Footer Placeholder 4">
            <a:extLst>
              <a:ext uri="{FF2B5EF4-FFF2-40B4-BE49-F238E27FC236}">
                <a16:creationId xmlns:a16="http://schemas.microsoft.com/office/drawing/2014/main" id="{17FFAC5B-7C77-4F8C-ADB0-8D208A2EB30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2F48AF-AB8F-4DD2-BC77-7E2F42AD3B87}"/>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1873178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20ED820-BFE6-41B5-8064-984037A999A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CA27FEA-5359-474A-B4F8-FF510DD7489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4DD33D-563C-4B8C-B8C1-625FF5C5B85D}"/>
              </a:ext>
            </a:extLst>
          </p:cNvPr>
          <p:cNvSpPr>
            <a:spLocks noGrp="1"/>
          </p:cNvSpPr>
          <p:nvPr>
            <p:ph type="dt" sz="half" idx="10"/>
          </p:nvPr>
        </p:nvSpPr>
        <p:spPr/>
        <p:txBody>
          <a:bodyPr/>
          <a:lstStyle/>
          <a:p>
            <a:fld id="{5D6495F3-B757-4FAF-98AA-EDA7D1485485}" type="datetimeFigureOut">
              <a:rPr lang="en-US" smtClean="0"/>
              <a:t>4/20/2026</a:t>
            </a:fld>
            <a:endParaRPr lang="en-US"/>
          </a:p>
        </p:txBody>
      </p:sp>
      <p:sp>
        <p:nvSpPr>
          <p:cNvPr id="5" name="Footer Placeholder 4">
            <a:extLst>
              <a:ext uri="{FF2B5EF4-FFF2-40B4-BE49-F238E27FC236}">
                <a16:creationId xmlns:a16="http://schemas.microsoft.com/office/drawing/2014/main" id="{40471877-89FD-46BE-832F-C5660A5567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6E675F-CC4D-48CF-90C8-53829EE08B8C}"/>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24546216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C07C8C3-4165-4353-ABF2-492454AF91E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89AA46A-3C66-4E4A-9907-225E50ABB7A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57F8214-A11A-4309-9D51-44F35987D1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D6495F3-B757-4FAF-98AA-EDA7D1485485}" type="datetimeFigureOut">
              <a:rPr lang="en-US" smtClean="0"/>
              <a:t>4/20/2026</a:t>
            </a:fld>
            <a:endParaRPr lang="en-US"/>
          </a:p>
        </p:txBody>
      </p:sp>
      <p:sp>
        <p:nvSpPr>
          <p:cNvPr id="5" name="Footer Placeholder 4">
            <a:extLst>
              <a:ext uri="{FF2B5EF4-FFF2-40B4-BE49-F238E27FC236}">
                <a16:creationId xmlns:a16="http://schemas.microsoft.com/office/drawing/2014/main" id="{D6A334EB-8260-4F13-9553-5A8593D9DC6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0C1EF96-E028-4E68-864E-9B77CF9F25E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E1939C1-24D7-49E9-A58A-7960365209F5}" type="slidenum">
              <a:rPr lang="en-US" smtClean="0"/>
              <a:t>‹#›</a:t>
            </a:fld>
            <a:endParaRPr lang="en-US"/>
          </a:p>
        </p:txBody>
      </p:sp>
    </p:spTree>
    <p:extLst>
      <p:ext uri="{BB962C8B-B14F-4D97-AF65-F5344CB8AC3E}">
        <p14:creationId xmlns:p14="http://schemas.microsoft.com/office/powerpoint/2010/main" val="18259450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3.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4.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5.xml"/><Relationship Id="rId5" Type="http://schemas.openxmlformats.org/officeDocument/2006/relationships/image" Target="../media/image4.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7.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3962611-DFD5-4092-AAFD-559E3DFCE2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5488" y="0"/>
            <a:ext cx="10910292"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2270F1FA-0425-408F-9861-80BF5AFB276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3045368" y="2043663"/>
            <a:ext cx="6105194" cy="2031055"/>
          </a:xfrm>
        </p:spPr>
        <p:txBody>
          <a:bodyPr>
            <a:normAutofit/>
          </a:bodyPr>
          <a:lstStyle/>
          <a:p>
            <a:r>
              <a:rPr lang="en-US" dirty="0" err="1">
                <a:solidFill>
                  <a:srgbClr val="FFFFFF"/>
                </a:solidFill>
              </a:rPr>
              <a:t>DriverPass</a:t>
            </a:r>
            <a:br>
              <a:rPr lang="en-US" dirty="0">
                <a:solidFill>
                  <a:srgbClr val="FFFFFF"/>
                </a:solidFill>
              </a:rPr>
            </a:br>
            <a:r>
              <a:rPr lang="en-US" dirty="0">
                <a:solidFill>
                  <a:srgbClr val="FFFFFF"/>
                </a:solidFill>
              </a:rPr>
              <a:t>System Analysis</a:t>
            </a:r>
          </a:p>
        </p:txBody>
      </p:sp>
      <p:sp>
        <p:nvSpPr>
          <p:cNvPr id="3" name="Content Placeholder 2"/>
          <p:cNvSpPr>
            <a:spLocks noGrp="1"/>
          </p:cNvSpPr>
          <p:nvPr>
            <p:ph type="subTitle" idx="1"/>
          </p:nvPr>
        </p:nvSpPr>
        <p:spPr>
          <a:xfrm>
            <a:off x="3045368" y="4074718"/>
            <a:ext cx="6105194" cy="682079"/>
          </a:xfrm>
        </p:spPr>
        <p:txBody>
          <a:bodyPr>
            <a:normAutofit/>
          </a:bodyPr>
          <a:lstStyle/>
          <a:p>
            <a:r>
              <a:rPr lang="en-US" dirty="0" err="1">
                <a:solidFill>
                  <a:srgbClr val="FFFFFF"/>
                </a:solidFill>
              </a:rPr>
              <a:t>Dhandeaka</a:t>
            </a:r>
            <a:r>
              <a:rPr lang="en-US" dirty="0">
                <a:solidFill>
                  <a:srgbClr val="FFFFFF"/>
                </a:solidFill>
              </a:rPr>
              <a:t> Harris-Kearse</a:t>
            </a:r>
            <a:endParaRPr dirty="0">
              <a:solidFill>
                <a:srgbClr val="FFFFFF"/>
              </a:solidFill>
            </a:endParaRPr>
          </a:p>
        </p:txBody>
      </p:sp>
    </p:spTree>
    <p:custDataLst>
      <p:tags r:id="rId1"/>
    </p:custDataLst>
    <p:extLst>
      <p:ext uri="{BB962C8B-B14F-4D97-AF65-F5344CB8AC3E}">
        <p14:creationId xmlns:p14="http://schemas.microsoft.com/office/powerpoint/2010/main" val="409182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System Requirements</a:t>
            </a:r>
          </a:p>
        </p:txBody>
      </p:sp>
      <p:sp>
        <p:nvSpPr>
          <p:cNvPr id="3" name="Content Placeholder 2"/>
          <p:cNvSpPr>
            <a:spLocks noGrp="1"/>
          </p:cNvSpPr>
          <p:nvPr>
            <p:ph idx="1"/>
          </p:nvPr>
        </p:nvSpPr>
        <p:spPr>
          <a:xfrm>
            <a:off x="6090574" y="801866"/>
            <a:ext cx="5306084" cy="5230634"/>
          </a:xfrm>
        </p:spPr>
        <p:txBody>
          <a:bodyPr anchor="ctr">
            <a:normAutofit/>
          </a:bodyPr>
          <a:lstStyle/>
          <a:p>
            <a:pPr marL="0" indent="0">
              <a:buNone/>
            </a:pPr>
            <a:r>
              <a:rPr lang="en-US" sz="2400" b="1" dirty="0"/>
              <a:t>Functional Requirements</a:t>
            </a:r>
            <a:endParaRPr lang="en-US" sz="2400" dirty="0"/>
          </a:p>
          <a:p>
            <a:r>
              <a:rPr lang="en-US" sz="2400" dirty="0"/>
              <a:t>Customers can schedule driving lessons online </a:t>
            </a:r>
          </a:p>
          <a:p>
            <a:r>
              <a:rPr lang="en-US" sz="2400" dirty="0"/>
              <a:t>Users can take practice tests and view results </a:t>
            </a:r>
          </a:p>
          <a:p>
            <a:pPr marL="0" indent="0">
              <a:buNone/>
            </a:pPr>
            <a:r>
              <a:rPr lang="en-US" sz="2400" b="1" dirty="0"/>
              <a:t>Nonfunctional Requirements</a:t>
            </a:r>
            <a:endParaRPr lang="en-US" sz="2400" dirty="0"/>
          </a:p>
          <a:p>
            <a:r>
              <a:rPr lang="en-US" sz="2400" dirty="0"/>
              <a:t>System must be accessible online from any device </a:t>
            </a:r>
          </a:p>
          <a:p>
            <a:r>
              <a:rPr lang="en-US" sz="2400" dirty="0"/>
              <a:t>System must securely store user and payment data</a:t>
            </a:r>
          </a:p>
          <a:p>
            <a:endParaRPr sz="2400" dirty="0">
              <a:solidFill>
                <a:srgbClr val="000000"/>
              </a:solidFill>
            </a:endParaRPr>
          </a:p>
        </p:txBody>
      </p:sp>
    </p:spTree>
    <p:custDataLst>
      <p:tags r:id="rId1"/>
    </p:custDataLst>
    <p:extLst>
      <p:ext uri="{BB962C8B-B14F-4D97-AF65-F5344CB8AC3E}">
        <p14:creationId xmlns:p14="http://schemas.microsoft.com/office/powerpoint/2010/main" val="18658859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Use Case Diagram</a:t>
            </a:r>
          </a:p>
        </p:txBody>
      </p:sp>
      <p:pic>
        <p:nvPicPr>
          <p:cNvPr id="5" name="Content Placeholder 4">
            <a:extLst>
              <a:ext uri="{FF2B5EF4-FFF2-40B4-BE49-F238E27FC236}">
                <a16:creationId xmlns:a16="http://schemas.microsoft.com/office/drawing/2014/main" id="{86237115-E21A-C404-A7AE-0AD98DE99DBA}"/>
              </a:ext>
            </a:extLst>
          </p:cNvPr>
          <p:cNvPicPr>
            <a:picLocks noGrp="1" noChangeAspect="1"/>
          </p:cNvPicPr>
          <p:nvPr>
            <p:ph idx="1"/>
          </p:nvPr>
        </p:nvPicPr>
        <p:blipFill>
          <a:blip r:embed="rId5">
            <a:extLst>
              <a:ext uri="{28A0092B-C50C-407E-A947-70E740481C1C}">
                <a14:useLocalDpi xmlns:a14="http://schemas.microsoft.com/office/drawing/2010/main" val="0"/>
              </a:ext>
            </a:extLst>
          </a:blip>
          <a:stretch>
            <a:fillRect/>
          </a:stretch>
        </p:blipFill>
        <p:spPr>
          <a:xfrm>
            <a:off x="5314121" y="1364974"/>
            <a:ext cx="6877878" cy="4585252"/>
          </a:xfrm>
          <a:prstGeom prst="rect">
            <a:avLst/>
          </a:prstGeom>
        </p:spPr>
      </p:pic>
    </p:spTree>
    <p:custDataLst>
      <p:tags r:id="rId1"/>
    </p:custDataLst>
    <p:extLst>
      <p:ext uri="{BB962C8B-B14F-4D97-AF65-F5344CB8AC3E}">
        <p14:creationId xmlns:p14="http://schemas.microsoft.com/office/powerpoint/2010/main" val="27764253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Activity</a:t>
            </a:r>
            <a:br>
              <a:rPr lang="en-US" dirty="0">
                <a:solidFill>
                  <a:schemeClr val="bg1"/>
                </a:solidFill>
              </a:rPr>
            </a:br>
            <a:r>
              <a:rPr lang="en-US" dirty="0">
                <a:solidFill>
                  <a:schemeClr val="bg1"/>
                </a:solidFill>
              </a:rPr>
              <a:t>Diagram</a:t>
            </a:r>
          </a:p>
        </p:txBody>
      </p:sp>
      <p:pic>
        <p:nvPicPr>
          <p:cNvPr id="5" name="Content Placeholder 4">
            <a:extLst>
              <a:ext uri="{FF2B5EF4-FFF2-40B4-BE49-F238E27FC236}">
                <a16:creationId xmlns:a16="http://schemas.microsoft.com/office/drawing/2014/main" id="{FD99E510-5AC5-F9F0-93E1-C16ECD584E5E}"/>
              </a:ext>
            </a:extLst>
          </p:cNvPr>
          <p:cNvPicPr>
            <a:picLocks noGrp="1" noChangeAspect="1"/>
          </p:cNvPicPr>
          <p:nvPr>
            <p:ph idx="1"/>
          </p:nvPr>
        </p:nvPicPr>
        <p:blipFill>
          <a:blip r:embed="rId5">
            <a:extLst>
              <a:ext uri="{28A0092B-C50C-407E-A947-70E740481C1C}">
                <a14:useLocalDpi xmlns:a14="http://schemas.microsoft.com/office/drawing/2010/main" val="0"/>
              </a:ext>
            </a:extLst>
          </a:blip>
          <a:stretch>
            <a:fillRect/>
          </a:stretch>
        </p:blipFill>
        <p:spPr>
          <a:xfrm>
            <a:off x="7156174" y="138617"/>
            <a:ext cx="4700547" cy="6580766"/>
          </a:xfrm>
          <a:prstGeom prst="rect">
            <a:avLst/>
          </a:prstGeom>
        </p:spPr>
      </p:pic>
    </p:spTree>
    <p:custDataLst>
      <p:tags r:id="rId1"/>
    </p:custDataLst>
    <p:extLst>
      <p:ext uri="{BB962C8B-B14F-4D97-AF65-F5344CB8AC3E}">
        <p14:creationId xmlns:p14="http://schemas.microsoft.com/office/powerpoint/2010/main" val="35640556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Security</a:t>
            </a:r>
          </a:p>
        </p:txBody>
      </p:sp>
      <p:sp>
        <p:nvSpPr>
          <p:cNvPr id="5" name="Rectangle 2">
            <a:extLst>
              <a:ext uri="{FF2B5EF4-FFF2-40B4-BE49-F238E27FC236}">
                <a16:creationId xmlns:a16="http://schemas.microsoft.com/office/drawing/2014/main" id="{16247943-87C0-42E1-BED7-F5011A96B32D}"/>
              </a:ext>
            </a:extLst>
          </p:cNvPr>
          <p:cNvSpPr>
            <a:spLocks noGrp="1" noChangeArrowheads="1"/>
          </p:cNvSpPr>
          <p:nvPr>
            <p:ph idx="1"/>
          </p:nvPr>
        </p:nvSpPr>
        <p:spPr bwMode="auto">
          <a:xfrm>
            <a:off x="6091238" y="2816929"/>
            <a:ext cx="4634602"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kumimoji="0" lang="en-US" altLang="en-US" sz="1800" b="0" i="0" u="none" strike="noStrike" cap="none" normalizeH="0" baseline="0" dirty="0">
                <a:ln>
                  <a:noFill/>
                </a:ln>
                <a:solidFill>
                  <a:schemeClr val="tx1"/>
                </a:solidFill>
                <a:effectLst/>
                <a:latin typeface="Arial" panose="020B0604020202020204" pitchFamily="34" charset="0"/>
              </a:rPr>
              <a:t>User login with secure passwords </a:t>
            </a:r>
          </a:p>
          <a:p>
            <a:pPr eaLnBrk="0" fontAlgn="base" hangingPunct="0">
              <a:lnSpc>
                <a:spcPct val="100000"/>
              </a:lnSpc>
              <a:spcBef>
                <a:spcPct val="0"/>
              </a:spcBef>
              <a:spcAft>
                <a:spcPct val="0"/>
              </a:spcAft>
            </a:pPr>
            <a:r>
              <a:rPr kumimoji="0" lang="en-US" altLang="en-US" sz="1800" b="0" i="0" u="none" strike="noStrike" cap="none" normalizeH="0" baseline="0" dirty="0">
                <a:ln>
                  <a:noFill/>
                </a:ln>
                <a:solidFill>
                  <a:schemeClr val="tx1"/>
                </a:solidFill>
                <a:effectLst/>
                <a:latin typeface="Arial" panose="020B0604020202020204" pitchFamily="34" charset="0"/>
              </a:rPr>
              <a:t>Role-based access for employees </a:t>
            </a:r>
          </a:p>
          <a:p>
            <a:pPr eaLnBrk="0" fontAlgn="base" hangingPunct="0">
              <a:lnSpc>
                <a:spcPct val="100000"/>
              </a:lnSpc>
              <a:spcBef>
                <a:spcPct val="0"/>
              </a:spcBef>
              <a:spcAft>
                <a:spcPct val="0"/>
              </a:spcAft>
            </a:pPr>
            <a:r>
              <a:rPr kumimoji="0" lang="en-US" altLang="en-US" sz="1800" b="0" i="0" u="none" strike="noStrike" cap="none" normalizeH="0" baseline="0" dirty="0">
                <a:ln>
                  <a:noFill/>
                </a:ln>
                <a:solidFill>
                  <a:schemeClr val="tx1"/>
                </a:solidFill>
                <a:effectLst/>
                <a:latin typeface="Arial" panose="020B0604020202020204" pitchFamily="34" charset="0"/>
              </a:rPr>
              <a:t>Activity tracking for all changes </a:t>
            </a:r>
          </a:p>
          <a:p>
            <a:pPr eaLnBrk="0" fontAlgn="base" hangingPunct="0">
              <a:lnSpc>
                <a:spcPct val="100000"/>
              </a:lnSpc>
              <a:spcBef>
                <a:spcPct val="0"/>
              </a:spcBef>
              <a:spcAft>
                <a:spcPct val="0"/>
              </a:spcAft>
            </a:pPr>
            <a:r>
              <a:rPr kumimoji="0" lang="en-US" altLang="en-US" sz="1800" b="0" i="0" u="none" strike="noStrike" cap="none" normalizeH="0" baseline="0" dirty="0">
                <a:ln>
                  <a:noFill/>
                </a:ln>
                <a:solidFill>
                  <a:schemeClr val="tx1"/>
                </a:solidFill>
                <a:effectLst/>
                <a:latin typeface="Arial" panose="020B0604020202020204" pitchFamily="34" charset="0"/>
              </a:rPr>
              <a:t>Protection of personal and payment data </a:t>
            </a:r>
          </a:p>
        </p:txBody>
      </p:sp>
    </p:spTree>
    <p:custDataLst>
      <p:tags r:id="rId1"/>
    </p:custDataLst>
    <p:extLst>
      <p:ext uri="{BB962C8B-B14F-4D97-AF65-F5344CB8AC3E}">
        <p14:creationId xmlns:p14="http://schemas.microsoft.com/office/powerpoint/2010/main" val="3768431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System Limitations</a:t>
            </a:r>
          </a:p>
        </p:txBody>
      </p:sp>
      <p:sp>
        <p:nvSpPr>
          <p:cNvPr id="4" name="Rectangle 1">
            <a:extLst>
              <a:ext uri="{FF2B5EF4-FFF2-40B4-BE49-F238E27FC236}">
                <a16:creationId xmlns:a16="http://schemas.microsoft.com/office/drawing/2014/main" id="{10B6CB41-85B9-C1C8-624D-61AFCEFAA68C}"/>
              </a:ext>
            </a:extLst>
          </p:cNvPr>
          <p:cNvSpPr>
            <a:spLocks noGrp="1" noChangeArrowheads="1"/>
          </p:cNvSpPr>
          <p:nvPr>
            <p:ph type="body" idx="1"/>
          </p:nvPr>
        </p:nvSpPr>
        <p:spPr bwMode="auto">
          <a:xfrm>
            <a:off x="6091238" y="2816929"/>
            <a:ext cx="584006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kumimoji="0" lang="en-US" altLang="en-US" sz="1800" b="0" i="0" u="none" strike="noStrike" cap="none" normalizeH="0" baseline="0" dirty="0">
                <a:ln>
                  <a:noFill/>
                </a:ln>
                <a:solidFill>
                  <a:schemeClr val="tx1"/>
                </a:solidFill>
                <a:effectLst/>
                <a:latin typeface="Arial" panose="020B0604020202020204" pitchFamily="34" charset="0"/>
              </a:rPr>
              <a:t>Requires internet connection for full functionality </a:t>
            </a:r>
          </a:p>
          <a:p>
            <a:pPr eaLnBrk="0" fontAlgn="base" hangingPunct="0">
              <a:lnSpc>
                <a:spcPct val="100000"/>
              </a:lnSpc>
              <a:spcBef>
                <a:spcPct val="0"/>
              </a:spcBef>
              <a:spcAft>
                <a:spcPct val="0"/>
              </a:spcAft>
            </a:pPr>
            <a:r>
              <a:rPr kumimoji="0" lang="en-US" altLang="en-US" sz="1800" b="0" i="0" u="none" strike="noStrike" cap="none" normalizeH="0" baseline="0" dirty="0">
                <a:ln>
                  <a:noFill/>
                </a:ln>
                <a:solidFill>
                  <a:schemeClr val="tx1"/>
                </a:solidFill>
                <a:effectLst/>
                <a:latin typeface="Arial" panose="020B0604020202020204" pitchFamily="34" charset="0"/>
              </a:rPr>
              <a:t>Limited customization of packages in current version </a:t>
            </a:r>
          </a:p>
          <a:p>
            <a:pPr eaLnBrk="0" fontAlgn="base" hangingPunct="0">
              <a:lnSpc>
                <a:spcPct val="100000"/>
              </a:lnSpc>
              <a:spcBef>
                <a:spcPct val="0"/>
              </a:spcBef>
              <a:spcAft>
                <a:spcPct val="0"/>
              </a:spcAft>
            </a:pPr>
            <a:r>
              <a:rPr kumimoji="0" lang="en-US" altLang="en-US" sz="1800" b="0" i="0" u="none" strike="noStrike" cap="none" normalizeH="0" baseline="0" dirty="0">
                <a:ln>
                  <a:noFill/>
                </a:ln>
                <a:solidFill>
                  <a:schemeClr val="tx1"/>
                </a:solidFill>
                <a:effectLst/>
                <a:latin typeface="Arial" panose="020B0604020202020204" pitchFamily="34" charset="0"/>
              </a:rPr>
              <a:t>System updates require technical support </a:t>
            </a:r>
          </a:p>
          <a:p>
            <a:pPr eaLnBrk="0" fontAlgn="base" hangingPunct="0">
              <a:lnSpc>
                <a:spcPct val="100000"/>
              </a:lnSpc>
              <a:spcBef>
                <a:spcPct val="0"/>
              </a:spcBef>
              <a:spcAft>
                <a:spcPct val="0"/>
              </a:spcAft>
            </a:pPr>
            <a:r>
              <a:rPr kumimoji="0" lang="en-US" altLang="en-US" sz="1800" b="0" i="0" u="none" strike="noStrike" cap="none" normalizeH="0" baseline="0" dirty="0">
                <a:ln>
                  <a:noFill/>
                </a:ln>
                <a:solidFill>
                  <a:schemeClr val="tx1"/>
                </a:solidFill>
                <a:effectLst/>
                <a:latin typeface="Arial" panose="020B0604020202020204" pitchFamily="34" charset="0"/>
              </a:rPr>
              <a:t>Dependent on external DMV updates </a:t>
            </a:r>
          </a:p>
        </p:txBody>
      </p:sp>
    </p:spTree>
    <p:custDataLst>
      <p:tags r:id="rId1"/>
    </p:custDataLst>
    <p:extLst>
      <p:ext uri="{BB962C8B-B14F-4D97-AF65-F5344CB8AC3E}">
        <p14:creationId xmlns:p14="http://schemas.microsoft.com/office/powerpoint/2010/main" val="322514164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WebD281</Template>
  <TotalTime>1498</TotalTime>
  <Words>606</Words>
  <Application>Microsoft Office PowerPoint</Application>
  <PresentationFormat>Widescreen</PresentationFormat>
  <Paragraphs>45</Paragraphs>
  <Slides>6</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Calibri Light</vt:lpstr>
      <vt:lpstr>Office Theme</vt:lpstr>
      <vt:lpstr>DriverPass System Analysis</vt:lpstr>
      <vt:lpstr>System Requirements</vt:lpstr>
      <vt:lpstr>Use Case Diagram</vt:lpstr>
      <vt:lpstr>Activity Diagram</vt:lpstr>
      <vt:lpstr>Security</vt:lpstr>
      <vt:lpstr>System Limitations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Systems Analysis</dc:title>
  <dc:creator>Loay Alnaji</dc:creator>
  <cp:lastModifiedBy>Dhandeaka</cp:lastModifiedBy>
  <cp:revision>22</cp:revision>
  <dcterms:created xsi:type="dcterms:W3CDTF">2019-10-14T02:36:52Z</dcterms:created>
  <dcterms:modified xsi:type="dcterms:W3CDTF">2026-04-20T07:59:40Z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17B2C008-CF5F-4D7E-BF2C-A283A0269B28</vt:lpwstr>
  </property>
  <property fmtid="{D5CDD505-2E9C-101B-9397-08002B2CF9AE}" pid="3" name="ArticulatePath">
    <vt:lpwstr>CS 255 Client Presentation Template</vt:lpwstr>
  </property>
</Properties>
</file>